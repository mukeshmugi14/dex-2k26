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3" autoAdjust="0"/>
    <p:restoredTop sz="94660"/>
  </p:normalViewPr>
  <p:slideViewPr>
    <p:cSldViewPr snapToGrid="0">
      <p:cViewPr varScale="1">
        <p:scale>
          <a:sx n="95" d="100"/>
          <a:sy n="95" d="100"/>
        </p:scale>
        <p:origin x="4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6C462-1935-46BC-B1D9-CEEB4E0F088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90E43-B470-40BF-82F8-6E3429F63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22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7FAFB5B-57CB-AEFA-003F-0BB5A3A1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7820"/>
          <a:stretch>
            <a:fillRect/>
          </a:stretch>
        </p:blipFill>
        <p:spPr>
          <a:xfrm>
            <a:off x="0" y="0"/>
            <a:ext cx="12191954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A0DF343-60A4-590C-7BC8-91798ABC3FC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9A75276-2B1D-4B7F-F613-DEBAC52D4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513" y="323819"/>
            <a:ext cx="2729012" cy="843082"/>
          </a:xfrm>
          <a:prstGeom prst="rect">
            <a:avLst/>
          </a:prstGeom>
        </p:spPr>
      </p:pic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DDF4206D-0572-E2FA-BBE5-45F3A0925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371475" y="317536"/>
            <a:ext cx="2720526" cy="85564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2FD9994-5292-231D-4165-26892309EB7E}"/>
              </a:ext>
            </a:extLst>
          </p:cNvPr>
          <p:cNvSpPr txBox="1"/>
          <p:nvPr userDrawn="1"/>
        </p:nvSpPr>
        <p:spPr>
          <a:xfrm>
            <a:off x="634365" y="1188206"/>
            <a:ext cx="2245360" cy="115113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6168626"/>
              </a:avLst>
            </a:prstTxWarp>
            <a:spAutoFit/>
          </a:bodyPr>
          <a:lstStyle/>
          <a:p>
            <a:pPr algn="ctr"/>
            <a:r>
              <a:rPr lang="en-IN" sz="3600" b="1" dirty="0">
                <a:ln w="38100">
                  <a:noFill/>
                </a:ln>
                <a:solidFill>
                  <a:schemeClr val="bg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US" sz="3600" b="1" dirty="0">
              <a:ln w="38100">
                <a:noFill/>
              </a:ln>
              <a:solidFill>
                <a:schemeClr val="bg1"/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0" name="Google Shape;202;p45">
            <a:extLst>
              <a:ext uri="{FF2B5EF4-FFF2-40B4-BE49-F238E27FC236}">
                <a16:creationId xmlns:a16="http://schemas.microsoft.com/office/drawing/2014/main" id="{DD4D71D2-3825-2E15-CA0A-237033911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62" y="1630349"/>
            <a:ext cx="11084560" cy="93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aseline="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F6923A3-B18A-9065-C726-BBC5A9C675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11084560" cy="34225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4880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FAFB5B-57CB-AEFA-003F-0BB5A3A1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7820"/>
          <a:stretch>
            <a:fillRect/>
          </a:stretch>
        </p:blipFill>
        <p:spPr>
          <a:xfrm>
            <a:off x="0" y="0"/>
            <a:ext cx="12191954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0DF343-60A4-590C-7BC8-91798ABC3FC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75276-2B1D-4B7F-F613-DEBAC52D4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72" y="323819"/>
            <a:ext cx="2729012" cy="84308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F4206D-0572-E2FA-BBE5-45F3A0925D07}"/>
              </a:ext>
            </a:extLst>
          </p:cNvPr>
          <p:cNvSpPr>
            <a:spLocks noGrp="1"/>
          </p:cNvSpPr>
          <p:nvPr userDrawn="1"/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6616167" y="1989603"/>
            <a:ext cx="5135805" cy="1615293"/>
          </a:xfrm>
          <a:prstGeom prst="rect">
            <a:avLst/>
          </a:prstGeom>
        </p:spPr>
      </p:pic>
      <p:sp>
        <p:nvSpPr>
          <p:cNvPr id="7" name="TextBox 42">
            <a:extLst>
              <a:ext uri="{FF2B5EF4-FFF2-40B4-BE49-F238E27FC236}">
                <a16:creationId xmlns:a16="http://schemas.microsoft.com/office/drawing/2014/main" id="{42FD9994-5292-231D-4165-26892309EB7E}"/>
              </a:ext>
            </a:extLst>
          </p:cNvPr>
          <p:cNvSpPr txBox="1"/>
          <p:nvPr userDrawn="1"/>
        </p:nvSpPr>
        <p:spPr>
          <a:xfrm>
            <a:off x="6136640" y="3757726"/>
            <a:ext cx="6176138" cy="4410914"/>
          </a:xfrm>
          <a:prstGeom prst="rect">
            <a:avLst/>
          </a:prstGeom>
          <a:noFill/>
        </p:spPr>
        <p:txBody>
          <a:bodyPr spcFirstLastPara="1" wrap="square" numCol="1" rtlCol="0">
            <a:prstTxWarp prst="textArchUp">
              <a:avLst>
                <a:gd name="adj" fmla="val 5730049"/>
              </a:avLst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0" b="1" dirty="0">
                <a:ln w="38100">
                  <a:noFill/>
                </a:ln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US" sz="3600" b="1" dirty="0">
              <a:ln w="38100">
                <a:noFill/>
              </a:ln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Google Shape;202;p45">
            <a:extLst>
              <a:ext uri="{FF2B5EF4-FFF2-40B4-BE49-F238E27FC236}">
                <a16:creationId xmlns:a16="http://schemas.microsoft.com/office/drawing/2014/main" id="{BEE938DF-602A-6074-42C8-C7067316A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62" y="1630349"/>
            <a:ext cx="5587999" cy="93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aseline="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1" name="Text Placeholder 40">
            <a:extLst>
              <a:ext uri="{FF2B5EF4-FFF2-40B4-BE49-F238E27FC236}">
                <a16:creationId xmlns:a16="http://schemas.microsoft.com/office/drawing/2014/main" id="{8030667F-3367-8E49-0E6C-D1D034904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5587999" cy="34225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291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B1584E-8195-1F65-B6B5-60C5A2F96AFC}"/>
              </a:ext>
            </a:extLst>
          </p:cNvPr>
          <p:cNvGrpSpPr/>
          <p:nvPr userDrawn="1"/>
        </p:nvGrpSpPr>
        <p:grpSpPr>
          <a:xfrm>
            <a:off x="0" y="6002322"/>
            <a:ext cx="12192000" cy="863628"/>
            <a:chOff x="0" y="5921502"/>
            <a:chExt cx="12192000" cy="93649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DE944D-0FA2-4F5D-D47C-AEC29E4EC8C8}"/>
                </a:ext>
              </a:extLst>
            </p:cNvPr>
            <p:cNvSpPr/>
            <p:nvPr/>
          </p:nvSpPr>
          <p:spPr>
            <a:xfrm>
              <a:off x="4768850" y="6034196"/>
              <a:ext cx="3327400" cy="703153"/>
            </a:xfrm>
            <a:custGeom>
              <a:avLst/>
              <a:gdLst>
                <a:gd name="csX0" fmla="*/ 3327400 w 3327400"/>
                <a:gd name="csY0" fmla="*/ 17354 h 703153"/>
                <a:gd name="csX1" fmla="*/ 969264 w 3327400"/>
                <a:gd name="csY1" fmla="*/ 18 h 703153"/>
                <a:gd name="csX2" fmla="*/ 602678 w 3327400"/>
                <a:gd name="csY2" fmla="*/ 131019 h 703153"/>
                <a:gd name="csX3" fmla="*/ 0 w 3327400"/>
                <a:gd name="csY3" fmla="*/ 633304 h 703153"/>
                <a:gd name="csX4" fmla="*/ 3244850 w 3327400"/>
                <a:gd name="csY4" fmla="*/ 703154 h 703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7400" h="703153">
                  <a:moveTo>
                    <a:pt x="3327400" y="17354"/>
                  </a:moveTo>
                  <a:cubicBezTo>
                    <a:pt x="3109849" y="17354"/>
                    <a:pt x="1540510" y="4654"/>
                    <a:pt x="969264" y="18"/>
                  </a:cubicBezTo>
                  <a:cubicBezTo>
                    <a:pt x="835419" y="-1055"/>
                    <a:pt x="705529" y="45357"/>
                    <a:pt x="602678" y="131019"/>
                  </a:cubicBezTo>
                  <a:lnTo>
                    <a:pt x="0" y="633304"/>
                  </a:lnTo>
                  <a:lnTo>
                    <a:pt x="3244850" y="703154"/>
                  </a:lnTo>
                  <a:close/>
                </a:path>
              </a:pathLst>
            </a:custGeom>
            <a:solidFill>
              <a:srgbClr val="253C6D"/>
            </a:solidFill>
            <a:ln w="6350" cap="flat">
              <a:noFill/>
              <a:prstDash val="solid"/>
              <a:miter/>
            </a:ln>
          </p:spPr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B158948-199E-54F6-CC6A-CD062D4B5441}"/>
                </a:ext>
              </a:extLst>
            </p:cNvPr>
            <p:cNvSpPr/>
            <p:nvPr/>
          </p:nvSpPr>
          <p:spPr>
            <a:xfrm>
              <a:off x="0" y="5921502"/>
              <a:ext cx="12192000" cy="936497"/>
            </a:xfrm>
            <a:custGeom>
              <a:avLst/>
              <a:gdLst>
                <a:gd name="csX0" fmla="*/ 12192000 w 12192000"/>
                <a:gd name="csY0" fmla="*/ 2350 h 936497"/>
                <a:gd name="csX1" fmla="*/ 7964170 w 12192000"/>
                <a:gd name="csY1" fmla="*/ 0 h 936497"/>
                <a:gd name="csX2" fmla="*/ 7649019 w 12192000"/>
                <a:gd name="csY2" fmla="*/ 107315 h 936497"/>
                <a:gd name="csX3" fmla="*/ 6943027 w 12192000"/>
                <a:gd name="csY3" fmla="*/ 652272 h 936497"/>
                <a:gd name="csX4" fmla="*/ 6714427 w 12192000"/>
                <a:gd name="csY4" fmla="*/ 730187 h 936497"/>
                <a:gd name="csX5" fmla="*/ 0 w 12192000"/>
                <a:gd name="csY5" fmla="*/ 733298 h 936497"/>
                <a:gd name="csX6" fmla="*/ 0 w 12192000"/>
                <a:gd name="csY6" fmla="*/ 936498 h 936497"/>
                <a:gd name="csX7" fmla="*/ 12192000 w 12192000"/>
                <a:gd name="csY7" fmla="*/ 936498 h 936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192000" h="936497">
                  <a:moveTo>
                    <a:pt x="12192000" y="2350"/>
                  </a:moveTo>
                  <a:lnTo>
                    <a:pt x="7964170" y="0"/>
                  </a:lnTo>
                  <a:cubicBezTo>
                    <a:pt x="7850124" y="-76"/>
                    <a:pt x="7739317" y="37668"/>
                    <a:pt x="7649019" y="107315"/>
                  </a:cubicBezTo>
                  <a:lnTo>
                    <a:pt x="6943027" y="652272"/>
                  </a:lnTo>
                  <a:cubicBezTo>
                    <a:pt x="6877558" y="702818"/>
                    <a:pt x="6797168" y="730187"/>
                    <a:pt x="6714427" y="730187"/>
                  </a:cubicBezTo>
                  <a:lnTo>
                    <a:pt x="0" y="733298"/>
                  </a:lnTo>
                  <a:lnTo>
                    <a:pt x="0" y="936498"/>
                  </a:lnTo>
                  <a:lnTo>
                    <a:pt x="12192000" y="936498"/>
                  </a:lnTo>
                  <a:close/>
                </a:path>
              </a:pathLst>
            </a:custGeom>
            <a:solidFill>
              <a:srgbClr val="F2842F"/>
            </a:solidFill>
            <a:ln w="6350" cap="flat">
              <a:noFill/>
              <a:prstDash val="solid"/>
              <a:miter/>
            </a:ln>
          </p:spPr>
        </p:sp>
      </p:grpSp>
      <p:sp>
        <p:nvSpPr>
          <p:cNvPr id="3" name="Google Shape;202;p45">
            <a:extLst>
              <a:ext uri="{FF2B5EF4-FFF2-40B4-BE49-F238E27FC236}">
                <a16:creationId xmlns:a16="http://schemas.microsoft.com/office/drawing/2014/main" id="{6BF16071-0212-0BAB-F060-72458C9196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1279" y="404813"/>
            <a:ext cx="8627829" cy="57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aseline="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pic>
        <p:nvPicPr>
          <p:cNvPr id="8" name="Picture 7" descr="Sathyabama Institute of Science and Technology Marks Calculator | CGPA &amp;  SGPA">
            <a:extLst>
              <a:ext uri="{FF2B5EF4-FFF2-40B4-BE49-F238E27FC236}">
                <a16:creationId xmlns:a16="http://schemas.microsoft.com/office/drawing/2014/main" id="{F2C043C2-F269-2061-CA94-F6ACF5D2C0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01" y="148062"/>
            <a:ext cx="1047750" cy="104775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B420C4F-56EC-8F21-F85A-F539849AD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011DAA12-713E-1B53-F990-5B1A0D6AE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>
            <a:lvl1pPr>
              <a:buFontTx/>
              <a:buNone/>
              <a:defRPr sz="2400">
                <a:solidFill>
                  <a:schemeClr val="tx1"/>
                </a:solidFill>
              </a:defRPr>
            </a:lvl1pPr>
            <a:lvl2pPr>
              <a:defRPr sz="22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8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9979108" y="364408"/>
            <a:ext cx="1955579" cy="61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83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F7FB7-8A81-2B7E-ED1D-92AF28D5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47671-D508-B7AD-B296-E1CA61705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22D36-9015-9164-2ED7-AD3DF4607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25E12-DB88-696D-9012-0D8486CF5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F1C9F-DDFD-4251-4985-A2941FAC1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FE0C-FD5A-4524-A8B1-CEC4446D43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0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FDAC-57A7-98AC-D986-6B23EEBC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06CD56A3-578C-0180-77A5-729AC080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2" y="1630349"/>
            <a:ext cx="5587999" cy="936496"/>
          </a:xfrm>
        </p:spPr>
        <p:txBody>
          <a:bodyPr>
            <a:normAutofit/>
          </a:bodyPr>
          <a:lstStyle/>
          <a:p>
            <a:r>
              <a:rPr lang="en-US" dirty="0"/>
              <a:t>TITLE PAGE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8589B8E-4A29-73AF-5A2F-EB72CC734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5587999" cy="3422575"/>
          </a:xfrm>
        </p:spPr>
        <p:txBody>
          <a:bodyPr>
            <a:normAutofit/>
          </a:bodyPr>
          <a:lstStyle/>
          <a:p>
            <a:r>
              <a:rPr lang="en-US" dirty="0"/>
              <a:t>Team Name (Registered on portal)</a:t>
            </a:r>
          </a:p>
          <a:p>
            <a:r>
              <a:rPr lang="en-US" dirty="0"/>
              <a:t>Theme</a:t>
            </a:r>
          </a:p>
          <a:p>
            <a:r>
              <a:rPr lang="en-US" dirty="0"/>
              <a:t>PS Category- Software/Hardware</a:t>
            </a:r>
          </a:p>
          <a:p>
            <a:r>
              <a:rPr lang="en-US" dirty="0"/>
              <a:t>Team ID-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A1547A-8CFB-621B-D78D-7A6A2FC212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82075" y="6356350"/>
            <a:ext cx="3209925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4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174EA7-003F-89B1-1E7C-F8A57DE9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/>
              <a:t>IDEA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9F55E-3122-1F47-4A39-E67B9B6E4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8FC1CE-9842-CF70-2FC2-083A847834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/>
          <a:p>
            <a:r>
              <a:rPr lang="en-US" b="1" dirty="0"/>
              <a:t>Proposed Solution (Describe your Idea/Solution/Prototype)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Detailed explanation of the proposed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it addresses the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Innovation and uniqueness of the solution </a:t>
            </a:r>
          </a:p>
        </p:txBody>
      </p:sp>
    </p:spTree>
    <p:extLst>
      <p:ext uri="{BB962C8B-B14F-4D97-AF65-F5344CB8AC3E}">
        <p14:creationId xmlns:p14="http://schemas.microsoft.com/office/powerpoint/2010/main" val="385517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A9B2-4145-047E-4788-11A7E65A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56E314-826D-F661-98DC-382C6809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 dirty="0"/>
              <a:t>TECHNICAL APPROACH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8579B-D1ED-8571-DE02-5C97F25C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E683CC-7AD2-3D83-D0E5-34D9E4E33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Technologies to be used (e.g. programming languages, frameworks, hardware)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Methodology and process for implementation (Flow Charts/Images/ working prototype)</a:t>
            </a:r>
          </a:p>
        </p:txBody>
      </p:sp>
    </p:spTree>
    <p:extLst>
      <p:ext uri="{BB962C8B-B14F-4D97-AF65-F5344CB8AC3E}">
        <p14:creationId xmlns:p14="http://schemas.microsoft.com/office/powerpoint/2010/main" val="203222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DB02-F265-94FF-6DDE-A3106183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65A3FB-D8C6-A614-A208-A0FE6209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 dirty="0"/>
              <a:t>FEASIBILITY AND VIABILITY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F34F-0E06-32B0-3C1C-5F1056DA4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1EADFB-1101-5DB8-BB14-B9D50D5223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Analysis of the feasibility of the idea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Potential challenges and risks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Strategies for overcoming these challenges</a:t>
            </a:r>
          </a:p>
        </p:txBody>
      </p:sp>
    </p:spTree>
    <p:extLst>
      <p:ext uri="{BB962C8B-B14F-4D97-AF65-F5344CB8AC3E}">
        <p14:creationId xmlns:p14="http://schemas.microsoft.com/office/powerpoint/2010/main" val="369248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46AE-5B58-1B80-0EAF-10AC0031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95AAEE-0716-FFBD-AA8F-1709F2589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IN" dirty="0"/>
              <a:t>B</a:t>
            </a:r>
            <a:r>
              <a:rPr lang="en-US" dirty="0"/>
              <a:t>USINESS CANVAS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ED3C0-45B9-4F61-CC2E-E7819EB75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BE356E-B92D-BC18-5616-7985E08D28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6" y="1333497"/>
            <a:ext cx="11449048" cy="46202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Mision &amp; vision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Market &amp; Competitive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Business perspective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Financial Planning &amp; requirements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365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07B8-F5D6-3D86-94BE-3F5ED1B8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F67624-53B3-3D31-2B35-373FAA66E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 dirty="0"/>
              <a:t>IMPACT AND BENEFITS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2F363D-C4B0-D7BE-2CB3-5316C2D4F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6C0CC6-69DF-FFA4-21C0-4344321D5A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Potential impact on the target audience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Benefits of the solution (social, economic, environmental, etc.)</a:t>
            </a:r>
          </a:p>
        </p:txBody>
      </p:sp>
    </p:spTree>
    <p:extLst>
      <p:ext uri="{BB962C8B-B14F-4D97-AF65-F5344CB8AC3E}">
        <p14:creationId xmlns:p14="http://schemas.microsoft.com/office/powerpoint/2010/main" val="394857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DFAE-A482-800C-BDE7-191E7C5E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2AA865-8A43-4424-BF3F-C2BAD148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279" y="404813"/>
            <a:ext cx="8627829" cy="574656"/>
          </a:xfrm>
        </p:spPr>
        <p:txBody>
          <a:bodyPr>
            <a:normAutofit/>
          </a:bodyPr>
          <a:lstStyle/>
          <a:p>
            <a:r>
              <a:rPr lang="en-US" dirty="0"/>
              <a:t>RESEARCH  AND REFERENCES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9C97E-BADD-963B-CFF7-507C4D4F7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B23928-3D63-423C-F329-D41831692B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Details / Links of the reference and research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GitHub Repository Link</a:t>
            </a:r>
          </a:p>
        </p:txBody>
      </p:sp>
    </p:spTree>
    <p:extLst>
      <p:ext uri="{BB962C8B-B14F-4D97-AF65-F5344CB8AC3E}">
        <p14:creationId xmlns:p14="http://schemas.microsoft.com/office/powerpoint/2010/main" val="346001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xath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842F"/>
      </a:accent1>
      <a:accent2>
        <a:srgbClr val="253C6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159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TITLE PAGE</vt:lpstr>
      <vt:lpstr>IDEA TITLE</vt:lpstr>
      <vt:lpstr>TECHNICAL APPROACH</vt:lpstr>
      <vt:lpstr>FEASIBILITY AND VIABILITY</vt:lpstr>
      <vt:lpstr>BUSINESS CANVAS</vt:lpstr>
      <vt:lpstr>IMPACT AND BENEFITS</vt:lpstr>
      <vt:lpstr>RESEARCH 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Jones</dc:creator>
  <cp:lastModifiedBy>Cyril Jones</cp:lastModifiedBy>
  <cp:revision>7</cp:revision>
  <dcterms:created xsi:type="dcterms:W3CDTF">2026-10-05T08:02:12Z</dcterms:created>
  <dcterms:modified xsi:type="dcterms:W3CDTF">2026-10-05T08:33:08Z</dcterms:modified>
</cp:coreProperties>
</file>